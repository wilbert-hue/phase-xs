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2313432" cy="1417320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0"/>
            <a:ext cx="1124712" cy="141732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value proposition?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21240" y="475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 ·  Clinical Trials Intelligence Platform  ·  phasexs.com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A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turns fragmented, hard-to-access clinical trial registries into a single intelligent dashboard — so pharmaceutical, biotech and research teams get strategic insights in seconds, not days.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11338560" cy="2286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212848"/>
            <a:ext cx="3767328" cy="4114800"/>
          </a:xfrm>
          <a:prstGeom prst="rect">
            <a:avLst/>
          </a:prstGeom>
          <a:solidFill>
            <a:srgbClr val="EAF6F8"/>
          </a:solidFill>
          <a:ln w="8890">
            <a:solidFill>
              <a:srgbClr val="C0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12848"/>
            <a:ext cx="3767328" cy="54864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Shape 13"/>
          <p:cNvSpPr/>
          <p:nvPr/>
        </p:nvSpPr>
        <p:spPr>
          <a:xfrm>
            <a:off x="1865376" y="2395728"/>
            <a:ext cx="822960" cy="8229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/>
          <p:nvPr/>
        </p:nvSpPr>
        <p:spPr>
          <a:xfrm>
            <a:off x="1865376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" y="3328416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Global Registry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" y="3840480"/>
            <a:ext cx="3511296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login provides immediate access to over 6,600 clinical trials from four major registries — US (ClinicalTrials.gov), India (CTRI), UK (ISRCTN), and Spain (EU CTR). No switching between platforms, no manual merging of spreadsheets.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2212848"/>
            <a:ext cx="3767328" cy="4114800"/>
          </a:xfrm>
          <a:prstGeom prst="rect">
            <a:avLst/>
          </a:prstGeom>
          <a:solidFill>
            <a:srgbClr val="EAF6F8"/>
          </a:solidFill>
          <a:ln w="8890">
            <a:solidFill>
              <a:srgbClr val="C0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212848"/>
            <a:ext cx="3767328" cy="54864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21" name="Shape 19"/>
          <p:cNvSpPr/>
          <p:nvPr/>
        </p:nvSpPr>
        <p:spPr>
          <a:xfrm>
            <a:off x="5797296" y="2395728"/>
            <a:ext cx="822960" cy="822960"/>
          </a:xfrm>
          <a:prstGeom prst="ellipse">
            <a:avLst/>
          </a:prstGeom>
          <a:solidFill>
            <a:srgbClr val="2A8F9C"/>
          </a:solidFill>
          <a:ln/>
        </p:spPr>
      </p:sp>
      <p:sp>
        <p:nvSpPr>
          <p:cNvPr id="22" name="Text 20"/>
          <p:cNvSpPr/>
          <p:nvPr/>
        </p:nvSpPr>
        <p:spPr>
          <a:xfrm>
            <a:off x="5797296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71416" y="3328416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&amp;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71416" y="3840480"/>
            <a:ext cx="3511296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KPI dashboard, 8+ chart types (phase distribution, timeline trends, top indications, technology breakdown), and advanced multi-select filters — all updating live as the user searches and refines, with no waiting for reports.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5320" y="2212848"/>
            <a:ext cx="3767328" cy="4114800"/>
          </a:xfrm>
          <a:prstGeom prst="rect">
            <a:avLst/>
          </a:prstGeom>
          <a:solidFill>
            <a:srgbClr val="EAF6F8"/>
          </a:solidFill>
          <a:ln w="8890">
            <a:solidFill>
              <a:srgbClr val="C0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2212848"/>
            <a:ext cx="3767328" cy="54864"/>
          </a:xfrm>
          <a:prstGeom prst="rect">
            <a:avLst/>
          </a:prstGeom>
          <a:solidFill>
            <a:srgbClr val="C68B1A"/>
          </a:solidFill>
          <a:ln/>
        </p:spPr>
      </p:sp>
      <p:sp>
        <p:nvSpPr>
          <p:cNvPr id="27" name="Shape 25"/>
          <p:cNvSpPr/>
          <p:nvPr/>
        </p:nvSpPr>
        <p:spPr>
          <a:xfrm>
            <a:off x="9729216" y="2395728"/>
            <a:ext cx="822960" cy="822960"/>
          </a:xfrm>
          <a:prstGeom prst="ellipse">
            <a:avLst/>
          </a:prstGeom>
          <a:solidFill>
            <a:srgbClr val="C68B1A"/>
          </a:solidFill>
          <a:ln/>
        </p:spPr>
      </p:sp>
      <p:sp>
        <p:nvSpPr>
          <p:cNvPr id="28" name="Text 26"/>
          <p:cNvSpPr/>
          <p:nvPr/>
        </p:nvSpPr>
        <p:spPr>
          <a:xfrm>
            <a:off x="9729216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03336" y="3328416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68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Outputs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03336" y="3840480"/>
            <a:ext cx="3511296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sponsors, molecules, or indications. Full trial detail sheets with PDF export ready for regulatory submissions, investor due diligence, BD/licensing decks, and board-level presentations.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2313432" cy="1417320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0"/>
            <a:ext cx="1124712" cy="141732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are we solving?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21240" y="475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 ·  Clinical Trials Intelligence Platform  ·  phasexs.com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A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and biotech teams today spend the majority of their research time on data gathering rather than insight generation. PHASE-XS was built specifically to eliminate these six critical pain points: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048256"/>
            <a:ext cx="11338560" cy="2286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5798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5798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15798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157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0370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Sources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India, UK, and Spain registries are entirely separate systems with different interfaces, column structures, and access methods. Teams must manually query 4+ platforms and stitch results together — a process riddled with errors and gaps.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35624" y="215798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215798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35624" y="215798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2" name="Text 20"/>
          <p:cNvSpPr/>
          <p:nvPr/>
        </p:nvSpPr>
        <p:spPr>
          <a:xfrm>
            <a:off x="6135624" y="2157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84264" y="220370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27064" y="256032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registry exports contain no KPIs, no trends, no visualisations. Every time a researcher needs a chart or summary metric, they must download CSVs, load them into Excel or Python, and build analysis from scratch — costing days per project.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7530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7530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57530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5753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62102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Comparison Capability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397764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native way in any registry to compare two sponsors, molecules, or indications side by side. Competitive benchmarking — a core activity in pharma strategy — is entirely manual and prone to bias and inconsistency.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357530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5624" y="357530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3" name="Shape 31"/>
          <p:cNvSpPr/>
          <p:nvPr/>
        </p:nvSpPr>
        <p:spPr>
          <a:xfrm>
            <a:off x="6135624" y="357530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35753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84264" y="362102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Blindspots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27064" y="397764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default to ClinicalTrials.gov only, completely missing significant activity in India (1,380 CTRI trials), the UK (1,128 ISRCTN oncology trials), and Spain/EU (977 EU CTR trials). Key growth markets are invisible.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499262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99262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480" y="499262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9926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503834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Cost Drain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539496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surveys indicate analysts spend 60–80% of research project time on data collection and cleaning rather than actual analysis. This inflates project timelines, raises costs, and delays the strategic decisions that depend on these insights.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35624" y="4992624"/>
            <a:ext cx="5577840" cy="1316736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35624" y="4992624"/>
            <a:ext cx="41148" cy="131673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5" name="Shape 43"/>
          <p:cNvSpPr/>
          <p:nvPr/>
        </p:nvSpPr>
        <p:spPr>
          <a:xfrm>
            <a:off x="6135624" y="4992624"/>
            <a:ext cx="4572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6" name="Text 44"/>
          <p:cNvSpPr/>
          <p:nvPr/>
        </p:nvSpPr>
        <p:spPr>
          <a:xfrm>
            <a:off x="6135624" y="49926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84264" y="5038344"/>
            <a:ext cx="4956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Barrier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227064" y="5394960"/>
            <a:ext cx="541324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registry interfaces require users to know what they are looking for before they start searching. There is no exploratory mode, no smart search, no autocomplete — making self-service impossible for non-technical stakeholders.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2313432" cy="1417320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0"/>
            <a:ext cx="1124712" cy="141732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help the client?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21240" y="475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 ·  Clinical Trials Intelligence Platform  ·  phasexs.com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A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delivers measurable value across every function in the drug development and commercialisation lifecycle — from early-stage research to investor reporting.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11338560" cy="2286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03120"/>
            <a:ext cx="6766560" cy="804672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03120"/>
            <a:ext cx="41148" cy="80467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17627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704" y="215798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Multi-Registry Search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0704" y="24140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6,600+ trials by molecule, indication, sponsor, or trial ID in seconds. Smart autocomplete surfaces relevant terms as the user types — no prior knowledge of trial IDs required.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6766560" cy="804672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71800"/>
            <a:ext cx="41148" cy="80467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04495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0704" y="302666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&amp; 8+ Chart Types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0704" y="32826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distribution, technology breakdown, timeline trends, top indications, route of admin, study status, dose focus, and recruitment status — all updating live as filters change, with no page reload.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840480"/>
            <a:ext cx="6766560" cy="804672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840480"/>
            <a:ext cx="41148" cy="80467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91363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0704" y="389534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0704" y="41513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"Roche, Pfizer" or "Pembrolizumab, Nivolumab" to instantly compare trial counts, enrollment, duration, arms, and adherence in a structured panel. Benchmarking that used to take hours now takes one search.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709160"/>
            <a:ext cx="6766560" cy="804672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709160"/>
            <a:ext cx="41148" cy="80467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478231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60704" y="476402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Detail + PDF Export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0704" y="50200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 opens a full-detail sheet — objectives, endpoints, dosage, blinding, recruitment status, sponsor, registry link. One-click PDF export for due diligence packages, board decks, and regulatory submissions.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5577840"/>
            <a:ext cx="6766560" cy="804672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5577840"/>
            <a:ext cx="41148" cy="80467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565099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60704" y="563270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Intelligence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60704" y="58887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US, India, UK, and Spain tabs instantly. Each region loads its own KPI set, chart configuration, and filter options — tailored to the specific data available in that registry.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2103120"/>
            <a:ext cx="4279392" cy="43434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9" name="Text 37"/>
          <p:cNvSpPr/>
          <p:nvPr/>
        </p:nvSpPr>
        <p:spPr>
          <a:xfrm>
            <a:off x="7516368" y="2176272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OUTCOMES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16368" y="2578608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1" name="Text 39"/>
          <p:cNvSpPr/>
          <p:nvPr/>
        </p:nvSpPr>
        <p:spPr>
          <a:xfrm>
            <a:off x="7516368" y="27066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6,600+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589520" y="325526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across 4 registries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601200" y="2578608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27066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74352" y="325526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markets in one dashboard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16368" y="3840480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7" name="Text 45"/>
          <p:cNvSpPr/>
          <p:nvPr/>
        </p:nvSpPr>
        <p:spPr>
          <a:xfrm>
            <a:off x="7516368" y="3968496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589520" y="451713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 types,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601200" y="3840480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3968496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674352" y="451713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response time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16368" y="5102352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3" name="Text 51"/>
          <p:cNvSpPr/>
          <p:nvPr/>
        </p:nvSpPr>
        <p:spPr>
          <a:xfrm>
            <a:off x="7516368" y="5230368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589520" y="577900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any trial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601200" y="5102352"/>
            <a:ext cx="1938528" cy="113385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0" y="5230368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9674352" y="577900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needed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2313432" cy="1417320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0"/>
            <a:ext cx="1124712" cy="141732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data coverage that we are providing?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21240" y="475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 ·  Clinical Trials Intelligence Platform  ·  phasexs.com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A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17904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aggregates and structures clinical trial data from four authoritative, publicly available global registries into a single unified database — updated continuously and queryable in real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572768"/>
            <a:ext cx="2743200" cy="12070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🇺🇸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ClinicalTrials.gov (NCT)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779776"/>
            <a:ext cx="2743200" cy="658368"/>
          </a:xfrm>
          <a:prstGeom prst="rect">
            <a:avLst/>
          </a:prstGeom>
          <a:solidFill>
            <a:srgbClr val="D8F0F5"/>
          </a:solidFill>
          <a:ln w="6350">
            <a:solidFill>
              <a:srgbClr val="BE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1480" y="3163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Biologics Trials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93008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93008"/>
            <a:ext cx="36576" cy="5303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478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I–IV biologics (mAb, ADC, CAR-T, Bispecific, Fusion Protein)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59936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59936"/>
            <a:ext cx="36576" cy="5303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1480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pricing &amp; patient adherence rates (unique to this registry)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626864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626864"/>
            <a:ext cx="36576" cy="5303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8172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of administration, dosage strength, trial design &amp; arms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5193792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5193792"/>
            <a:ext cx="36576" cy="5303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24865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indication, enrollment, start &amp; completion dates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4992" y="1572768"/>
            <a:ext cx="2743200" cy="1207008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🇮🇳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364992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64992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CTRI Registry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64992" y="2779776"/>
            <a:ext cx="2743200" cy="658368"/>
          </a:xfrm>
          <a:prstGeom prst="rect">
            <a:avLst/>
          </a:prstGeom>
          <a:solidFill>
            <a:srgbClr val="D8F0F5"/>
          </a:solidFill>
          <a:ln w="6350">
            <a:solidFill>
              <a:srgbClr val="BE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364992" y="3163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64992" y="3493008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3493008"/>
            <a:ext cx="36576" cy="53035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0" name="Text 38"/>
          <p:cNvSpPr/>
          <p:nvPr/>
        </p:nvSpPr>
        <p:spPr>
          <a:xfrm>
            <a:off x="3456432" y="35478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Interventional trials across all phases (Phase I–IV)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64992" y="4059936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4059936"/>
            <a:ext cx="36576" cy="53035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3" name="Text 41"/>
          <p:cNvSpPr/>
          <p:nvPr/>
        </p:nvSpPr>
        <p:spPr>
          <a:xfrm>
            <a:off x="3456432" y="411480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target sample size &amp; recruitment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64992" y="4626864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4992" y="4626864"/>
            <a:ext cx="36576" cy="53035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6" name="Text 44"/>
          <p:cNvSpPr/>
          <p:nvPr/>
        </p:nvSpPr>
        <p:spPr>
          <a:xfrm>
            <a:off x="3456432" y="468172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title, scientific title &amp; health conditions studied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64992" y="5193792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64992" y="5193792"/>
            <a:ext cx="36576" cy="530352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49" name="Text 47"/>
          <p:cNvSpPr/>
          <p:nvPr/>
        </p:nvSpPr>
        <p:spPr>
          <a:xfrm>
            <a:off x="3456432" y="524865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enrollment date (India) &amp; estimated trial duration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18504" y="1572768"/>
            <a:ext cx="2743200" cy="12070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1" name="Text 49"/>
          <p:cNvSpPr/>
          <p:nvPr/>
        </p:nvSpPr>
        <p:spPr>
          <a:xfrm>
            <a:off x="6318504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🇬🇧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318504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6318504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ISRCTN Registry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18504" y="2779776"/>
            <a:ext cx="2743200" cy="658368"/>
          </a:xfrm>
          <a:prstGeom prst="rect">
            <a:avLst/>
          </a:prstGeom>
          <a:solidFill>
            <a:srgbClr val="D8F0F5"/>
          </a:solidFill>
          <a:ln w="6350">
            <a:solidFill>
              <a:srgbClr val="BEE0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1,128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6318504" y="3163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Trials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18504" y="3493008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18504" y="3493008"/>
            <a:ext cx="36576" cy="5303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9" name="Text 57"/>
          <p:cNvSpPr/>
          <p:nvPr/>
        </p:nvSpPr>
        <p:spPr>
          <a:xfrm>
            <a:off x="6409944" y="35478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Interventional oncology studies (ISRCTN-registered only)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18504" y="4059936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18504" y="4059936"/>
            <a:ext cx="36576" cy="5303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2" name="Text 60"/>
          <p:cNvSpPr/>
          <p:nvPr/>
        </p:nvSpPr>
        <p:spPr>
          <a:xfrm>
            <a:off x="6409944" y="411480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Blinding, randomisation, control type &amp; study design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18504" y="4626864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18504" y="4626864"/>
            <a:ext cx="36576" cy="5303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5" name="Text 63"/>
          <p:cNvSpPr/>
          <p:nvPr/>
        </p:nvSpPr>
        <p:spPr>
          <a:xfrm>
            <a:off x="6409944" y="468172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study status &amp; recruitment status per trial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18504" y="5193792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18504" y="5193792"/>
            <a:ext cx="36576" cy="5303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8" name="Text 66"/>
          <p:cNvSpPr/>
          <p:nvPr/>
        </p:nvSpPr>
        <p:spPr>
          <a:xfrm>
            <a:off x="6409944" y="524865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title, primary objectives &amp; outcome measures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272016" y="1572768"/>
            <a:ext cx="2743200" cy="1207008"/>
          </a:xfrm>
          <a:prstGeom prst="rect">
            <a:avLst/>
          </a:prstGeom>
          <a:solidFill>
            <a:srgbClr val="A05C34"/>
          </a:solidFill>
          <a:ln/>
        </p:spPr>
      </p:sp>
      <p:sp>
        <p:nvSpPr>
          <p:cNvPr id="70" name="Text 68"/>
          <p:cNvSpPr/>
          <p:nvPr/>
        </p:nvSpPr>
        <p:spPr>
          <a:xfrm>
            <a:off x="9272016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🇪🇸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9272016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9272016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CTR (EudraCT/CTIS)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272016" y="2779776"/>
            <a:ext cx="2743200" cy="658368"/>
          </a:xfrm>
          <a:prstGeom prst="rect">
            <a:avLst/>
          </a:prstGeom>
          <a:solidFill>
            <a:srgbClr val="D8F0F5"/>
          </a:solidFill>
          <a:ln w="6350">
            <a:solidFill>
              <a:srgbClr val="BEE0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72016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0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9272016" y="3163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Trials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272016" y="3493008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72016" y="3493008"/>
            <a:ext cx="36576" cy="530352"/>
          </a:xfrm>
          <a:prstGeom prst="rect">
            <a:avLst/>
          </a:prstGeom>
          <a:solidFill>
            <a:srgbClr val="A05C34"/>
          </a:solidFill>
          <a:ln/>
        </p:spPr>
      </p:sp>
      <p:sp>
        <p:nvSpPr>
          <p:cNvPr id="78" name="Text 76"/>
          <p:cNvSpPr/>
          <p:nvPr/>
        </p:nvSpPr>
        <p:spPr>
          <a:xfrm>
            <a:off x="9363456" y="35478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EU-authorised interventional studies (Phase I–IV)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272016" y="4059936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72016" y="4059936"/>
            <a:ext cx="36576" cy="530352"/>
          </a:xfrm>
          <a:prstGeom prst="rect">
            <a:avLst/>
          </a:prstGeom>
          <a:solidFill>
            <a:srgbClr val="A05C34"/>
          </a:solidFill>
          <a:ln/>
        </p:spPr>
      </p:sp>
      <p:sp>
        <p:nvSpPr>
          <p:cNvPr id="81" name="Text 79"/>
          <p:cNvSpPr/>
          <p:nvPr/>
        </p:nvSpPr>
        <p:spPr>
          <a:xfrm>
            <a:off x="9363456" y="411480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status, EEA start &amp; end dates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272016" y="4626864"/>
            <a:ext cx="27432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72016" y="4626864"/>
            <a:ext cx="36576" cy="530352"/>
          </a:xfrm>
          <a:prstGeom prst="rect">
            <a:avLst/>
          </a:prstGeom>
          <a:solidFill>
            <a:srgbClr val="A05C34"/>
          </a:solidFill>
          <a:ln/>
        </p:spPr>
      </p:sp>
      <p:sp>
        <p:nvSpPr>
          <p:cNvPr id="84" name="Text 82"/>
          <p:cNvSpPr/>
          <p:nvPr/>
        </p:nvSpPr>
        <p:spPr>
          <a:xfrm>
            <a:off x="9363456" y="468172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area (MeSH) &amp; MedDRA condition codes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272016" y="5193792"/>
            <a:ext cx="2743200" cy="530352"/>
          </a:xfrm>
          <a:prstGeom prst="rect">
            <a:avLst/>
          </a:prstGeom>
          <a:solidFill>
            <a:srgbClr val="EAF6F8"/>
          </a:solidFill>
          <a:ln w="3810">
            <a:solidFill>
              <a:srgbClr val="D0E8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72016" y="5193792"/>
            <a:ext cx="36576" cy="530352"/>
          </a:xfrm>
          <a:prstGeom prst="rect">
            <a:avLst/>
          </a:prstGeom>
          <a:solidFill>
            <a:srgbClr val="A05C34"/>
          </a:solidFill>
          <a:ln/>
        </p:spPr>
      </p:sp>
      <p:sp>
        <p:nvSpPr>
          <p:cNvPr id="87" name="Text 85"/>
          <p:cNvSpPr/>
          <p:nvPr/>
        </p:nvSpPr>
        <p:spPr>
          <a:xfrm>
            <a:off x="9363456" y="524865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type, gender criteria &amp; age range covered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11480" y="6400800"/>
            <a:ext cx="11375136" cy="109728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89" name="Text 87"/>
          <p:cNvSpPr/>
          <p:nvPr/>
        </p:nvSpPr>
        <p:spPr>
          <a:xfrm>
            <a:off x="411480" y="6291072"/>
            <a:ext cx="11375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 6,663 trials  ·  4 registries  ·  US · India · UK · Spain  ·  Updated continuously  ·  Secure, authenticated access via phasexs.com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2313432" cy="1417320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0"/>
            <a:ext cx="1124712" cy="141732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target customer for it?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21240" y="475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 ·  Clinical Trials Intelligence Platform  ·  phasexs.com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A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PHASE-XS is designed for every professional whose work depends on accurate, current clinical trial intelligence — across pharma, biotech, finance, consulting, and academia.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11338560" cy="22860"/>
          </a:xfrm>
          <a:prstGeom prst="rect">
            <a:avLst/>
          </a:prstGeom>
          <a:solidFill>
            <a:srgbClr val="4FBDB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21408"/>
            <a:ext cx="3694176" cy="2011680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21408"/>
            <a:ext cx="3694176" cy="49377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185416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Big Pharma &amp; Biotech Companies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" y="2651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pharmaceutical companies (Roche, Pfizer, AstraZeneca, Novartis, BMS) and mid-size biotech firms with active R&amp;D pipelines across oncology, immunology, rare diseases, and CNS.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3511296" cy="13716"/>
          </a:xfrm>
          <a:prstGeom prst="rect">
            <a:avLst/>
          </a:prstGeom>
          <a:solidFill>
            <a:srgbClr val="C8E4E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1012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6696" y="327355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on rival pipelines, benchmarking enrollment and trial duration, identifying white-space opportunities in underpopulated indications, and supporting BD/licensing due diligence with trial-level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33672" y="2121408"/>
            <a:ext cx="3694176" cy="2011680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2121408"/>
            <a:ext cx="3694176" cy="493776"/>
          </a:xfrm>
          <a:prstGeom prst="rect">
            <a:avLst/>
          </a:prstGeom>
          <a:solidFill>
            <a:srgbClr val="2A8F9C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185416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CROs &amp; Research Organisations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25112" y="26883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18888" y="2651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research organisations (ICON, PPD, Syneos, IQVIA) and academic medical centres conducting clinical research or advising sponsors on trial strategy and site selection.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25112" y="3255264"/>
            <a:ext cx="3511296" cy="13716"/>
          </a:xfrm>
          <a:prstGeom prst="rect">
            <a:avLst/>
          </a:prstGeom>
          <a:solidFill>
            <a:srgbClr val="C8E4EC"/>
          </a:solidFill>
          <a:ln/>
        </p:spPr>
      </p:sp>
      <p:sp>
        <p:nvSpPr>
          <p:cNvPr id="27" name="Text 25"/>
          <p:cNvSpPr/>
          <p:nvPr/>
        </p:nvSpPr>
        <p:spPr>
          <a:xfrm>
            <a:off x="4325112" y="331012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18888" y="327355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 benchmarking against comparable trials, patient recruitment feasibility, competitive landscape scoping for new study designs, and academic publication research across global registries.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55864" y="2121408"/>
            <a:ext cx="3694176" cy="2011680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5864" y="2121408"/>
            <a:ext cx="3694176" cy="493776"/>
          </a:xfrm>
          <a:prstGeom prst="rect">
            <a:avLst/>
          </a:prstGeom>
          <a:solidFill>
            <a:srgbClr val="C68B1A"/>
          </a:solidFill>
          <a:ln/>
        </p:spPr>
      </p:sp>
      <p:sp>
        <p:nvSpPr>
          <p:cNvPr id="31" name="Text 29"/>
          <p:cNvSpPr/>
          <p:nvPr/>
        </p:nvSpPr>
        <p:spPr>
          <a:xfrm>
            <a:off x="8165592" y="2185416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Life Science Investors &amp; VCs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47304" y="26883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68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41080" y="2651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 firms, private equity funds, family offices, and hedge funds focused on biopharma investments (Sofinnova, OrbiMed, Novo Holdings, healthcare-focused PE).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47304" y="3255264"/>
            <a:ext cx="3511296" cy="13716"/>
          </a:xfrm>
          <a:prstGeom prst="rect">
            <a:avLst/>
          </a:prstGeom>
          <a:solidFill>
            <a:srgbClr val="C8E4EC"/>
          </a:solidFill>
          <a:ln/>
        </p:spPr>
      </p:sp>
      <p:sp>
        <p:nvSpPr>
          <p:cNvPr id="35" name="Text 33"/>
          <p:cNvSpPr/>
          <p:nvPr/>
        </p:nvSpPr>
        <p:spPr>
          <a:xfrm>
            <a:off x="8147304" y="331012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68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41080" y="327355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Pre-investment due diligence on pipeline maturity and phase distribution, assessing competitive moat for portfolio companies, market sizing by indication and technology, and tracking trial activity post-investment.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297680"/>
            <a:ext cx="5605272" cy="2011680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297680"/>
            <a:ext cx="5605272" cy="49377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436168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Strategy Consulting &amp; Advisory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86460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96696" y="4828032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consultants, market access specialists, and HEOR (Health Economics &amp; Outcomes Research) teams at firms such as McKinsey, BCG, Avalere, and IQVIA.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431536"/>
            <a:ext cx="5422392" cy="13716"/>
          </a:xfrm>
          <a:prstGeom prst="rect">
            <a:avLst/>
          </a:prstGeom>
          <a:solidFill>
            <a:srgbClr val="C8E4E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548640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96696" y="5449824"/>
            <a:ext cx="49286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landscape scans for client engagements, therapy area reports, HTA submission support, market access strategy and real-world evidence gap analysis — all delivered faster with pre-aggregated trial data.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44768" y="4297680"/>
            <a:ext cx="5605272" cy="2011680"/>
          </a:xfrm>
          <a:prstGeom prst="rect">
            <a:avLst/>
          </a:prstGeom>
          <a:solidFill>
            <a:srgbClr val="EAF6F8"/>
          </a:solidFill>
          <a:ln w="6350">
            <a:solidFill>
              <a:srgbClr val="C8E4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4297680"/>
            <a:ext cx="5605272" cy="4937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7" name="Text 45"/>
          <p:cNvSpPr/>
          <p:nvPr/>
        </p:nvSpPr>
        <p:spPr>
          <a:xfrm>
            <a:off x="6254496" y="436168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Regulatory &amp; Market Access Teams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236208" y="486460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9984" y="4828032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 professionals, HTA (Health Technology Assessment) body analysts, payer organisations, and government health agencies evaluating drug approvals and reimbursement.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36208" y="5431536"/>
            <a:ext cx="5422392" cy="13716"/>
          </a:xfrm>
          <a:prstGeom prst="rect">
            <a:avLst/>
          </a:prstGeom>
          <a:solidFill>
            <a:srgbClr val="C8E4EC"/>
          </a:solidFill>
          <a:ln/>
        </p:spPr>
      </p:sp>
      <p:sp>
        <p:nvSpPr>
          <p:cNvPr id="51" name="Text 49"/>
          <p:cNvSpPr/>
          <p:nvPr/>
        </p:nvSpPr>
        <p:spPr>
          <a:xfrm>
            <a:off x="6236208" y="548640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29984" y="5449824"/>
            <a:ext cx="49286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identification of comparator arms, real-world evidence gap analysis, support for submission dossiers, and benchmarking clinical trial design standards across regions and disease areas.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2026-06-29T13:16:42Z</dcterms:created>
  <dcterms:modified xsi:type="dcterms:W3CDTF">2026-06-29T13:16:43Z</dcterms:modified>
</cp:coreProperties>
</file>